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268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623AA-4336-231D-3AC4-C8B67722F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EEE2A5-67CB-F94A-B282-5EC9D1839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0560C8-9647-1EE5-68FC-D4293074B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582DC-B547-DC3F-D24F-ECA0CE18EE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05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37.png"/><Relationship Id="rId5" Type="http://schemas.openxmlformats.org/officeDocument/2006/relationships/image" Target="../media/image33.png"/><Relationship Id="rId10" Type="http://schemas.openxmlformats.org/officeDocument/2006/relationships/image" Target="../media/image36.png"/><Relationship Id="rId4" Type="http://schemas.openxmlformats.org/officeDocument/2006/relationships/image" Target="../media/image11.png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3957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815584"/>
            <a:ext cx="13048488" cy="365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6099048"/>
            <a:ext cx="457200" cy="64008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362456" y="6099048"/>
            <a:ext cx="278892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23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Sujit Bhuyan</a:t>
            </a:r>
            <a:endParaRPr lang="en-US" sz="2230" dirty="0"/>
          </a:p>
        </p:txBody>
      </p:sp>
      <p:sp>
        <p:nvSpPr>
          <p:cNvPr id="7" name="Text 1"/>
          <p:cNvSpPr/>
          <p:nvPr/>
        </p:nvSpPr>
        <p:spPr>
          <a:xfrm>
            <a:off x="1362456" y="6492240"/>
            <a:ext cx="27889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70"/>
              </a:lnSpc>
              <a:buNone/>
            </a:pPr>
            <a:endParaRPr lang="en-US" sz="1330" dirty="0"/>
          </a:p>
        </p:txBody>
      </p:sp>
      <p:sp>
        <p:nvSpPr>
          <p:cNvPr id="8" name="Text 2"/>
          <p:cNvSpPr/>
          <p:nvPr/>
        </p:nvSpPr>
        <p:spPr>
          <a:xfrm>
            <a:off x="795528" y="3602736"/>
            <a:ext cx="1304848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EcoMind – Sustainable Living Recommender</a:t>
            </a:r>
            <a:endParaRPr lang="en-US" sz="61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3099816"/>
            <a:ext cx="13048488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CONTENTS</a:t>
            </a:r>
            <a:endParaRPr lang="en-US" sz="6160" dirty="0"/>
          </a:p>
        </p:txBody>
      </p:sp>
      <p:sp>
        <p:nvSpPr>
          <p:cNvPr id="5" name="Text 1"/>
          <p:cNvSpPr/>
          <p:nvPr/>
        </p:nvSpPr>
        <p:spPr>
          <a:xfrm>
            <a:off x="1024128" y="4562856"/>
            <a:ext cx="5961888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1. Discover &amp; Define</a:t>
            </a:r>
            <a:endParaRPr lang="en-US" sz="2230" dirty="0"/>
          </a:p>
        </p:txBody>
      </p:sp>
      <p:sp>
        <p:nvSpPr>
          <p:cNvPr id="6" name="Text 2"/>
          <p:cNvSpPr/>
          <p:nvPr/>
        </p:nvSpPr>
        <p:spPr>
          <a:xfrm>
            <a:off x="7662672" y="4562856"/>
            <a:ext cx="5961888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2. Build &amp; Validate</a:t>
            </a:r>
            <a:endParaRPr lang="en-US" sz="22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1124712"/>
            <a:ext cx="2779776" cy="23317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6519672"/>
            <a:ext cx="13048488" cy="3657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051560" y="1380744"/>
            <a:ext cx="226771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7" name="Text 1"/>
          <p:cNvSpPr/>
          <p:nvPr/>
        </p:nvSpPr>
        <p:spPr>
          <a:xfrm>
            <a:off x="1051560" y="1801368"/>
            <a:ext cx="2267712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60" dirty="0">
                <a:solidFill>
                  <a:srgbClr val="C2C2C2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01</a:t>
            </a:r>
            <a:endParaRPr lang="en-US" sz="6160" dirty="0"/>
          </a:p>
        </p:txBody>
      </p:sp>
      <p:sp>
        <p:nvSpPr>
          <p:cNvPr id="8" name="Text 2"/>
          <p:cNvSpPr/>
          <p:nvPr/>
        </p:nvSpPr>
        <p:spPr>
          <a:xfrm>
            <a:off x="1051560" y="2916936"/>
            <a:ext cx="226771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9" name="Text 3"/>
          <p:cNvSpPr/>
          <p:nvPr/>
        </p:nvSpPr>
        <p:spPr>
          <a:xfrm>
            <a:off x="795528" y="3941064"/>
            <a:ext cx="1304848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10" name="Text 4"/>
          <p:cNvSpPr/>
          <p:nvPr/>
        </p:nvSpPr>
        <p:spPr>
          <a:xfrm>
            <a:off x="4233672" y="1143000"/>
            <a:ext cx="9592056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11" name="Text 5"/>
          <p:cNvSpPr/>
          <p:nvPr/>
        </p:nvSpPr>
        <p:spPr>
          <a:xfrm>
            <a:off x="795528" y="4480560"/>
            <a:ext cx="1304848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12" name="Text 6"/>
          <p:cNvSpPr/>
          <p:nvPr/>
        </p:nvSpPr>
        <p:spPr>
          <a:xfrm>
            <a:off x="795528" y="5020056"/>
            <a:ext cx="1304848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13" name="Text 7"/>
          <p:cNvSpPr/>
          <p:nvPr/>
        </p:nvSpPr>
        <p:spPr>
          <a:xfrm>
            <a:off x="795528" y="5559552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5580"/>
              </a:lnSpc>
              <a:buNone/>
            </a:pPr>
            <a:r>
              <a:rPr lang="en-US" sz="44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Discover &amp; Define</a:t>
            </a:r>
            <a:endParaRPr lang="en-US" sz="4460" dirty="0"/>
          </a:p>
        </p:txBody>
      </p:sp>
      <p:sp>
        <p:nvSpPr>
          <p:cNvPr id="14" name="Text 8"/>
          <p:cNvSpPr/>
          <p:nvPr/>
        </p:nvSpPr>
        <p:spPr>
          <a:xfrm>
            <a:off x="795528" y="6803136"/>
            <a:ext cx="1304848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1764792"/>
            <a:ext cx="13048488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460"/>
              </a:lnSpc>
              <a:buNone/>
            </a:pPr>
            <a:r>
              <a:rPr lang="en-US" sz="357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Project Scope &amp; Objectives</a:t>
            </a:r>
            <a:endParaRPr lang="en-US" sz="3570" dirty="0"/>
          </a:p>
        </p:txBody>
      </p:sp>
      <p:sp>
        <p:nvSpPr>
          <p:cNvPr id="5" name="Text 1"/>
          <p:cNvSpPr/>
          <p:nvPr/>
        </p:nvSpPr>
        <p:spPr>
          <a:xfrm>
            <a:off x="795528" y="2587752"/>
            <a:ext cx="13048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Problem Statement: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Modern consumers want to live sustainably, but struggle with identifying eco-friendly habits, products, and lifestyle choices tailored to their context (budget, location, routines). Existing apps give generic advice rather than adaptive, data-driven recommendations.</a:t>
            </a:r>
            <a:endParaRPr lang="en-US" sz="1780" dirty="0"/>
          </a:p>
        </p:txBody>
      </p:sp>
      <p:sp>
        <p:nvSpPr>
          <p:cNvPr id="6" name="Text 2"/>
          <p:cNvSpPr/>
          <p:nvPr/>
        </p:nvSpPr>
        <p:spPr>
          <a:xfrm>
            <a:off x="795528" y="3977640"/>
            <a:ext cx="13048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Objective: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To design a responsible AI-powered app, EcoMind, that learns from user preferences, daily choices, and environmental data to provide personalized and ethical sustainability recommendations — helping users reduce their carbon footprint and make smarter, greener decisions.</a:t>
            </a:r>
            <a:endParaRPr lang="en-US" sz="1780" dirty="0"/>
          </a:p>
        </p:txBody>
      </p:sp>
      <p:sp>
        <p:nvSpPr>
          <p:cNvPr id="7" name="Text 3"/>
          <p:cNvSpPr/>
          <p:nvPr/>
        </p:nvSpPr>
        <p:spPr>
          <a:xfrm>
            <a:off x="795528" y="5367528"/>
            <a:ext cx="1304848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Value Proposition: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EcoMind empowers users to live more sustainably through adaptive AI insights, data transparency, and measurable environmental impact — making eco-friendly living simple, personalized, and achievable.</a:t>
            </a:r>
            <a:endParaRPr lang="en-US" sz="1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1618488"/>
            <a:ext cx="4297680" cy="112471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349240"/>
            <a:ext cx="6492240" cy="96926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5504" y="1618488"/>
            <a:ext cx="4297680" cy="112471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6409944"/>
            <a:ext cx="6492240" cy="96926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0064" y="5349240"/>
            <a:ext cx="6492240" cy="96926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4624" y="1618488"/>
            <a:ext cx="4297680" cy="112471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0064" y="6409944"/>
            <a:ext cx="6492240" cy="96926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" y="2276856"/>
            <a:ext cx="3986784" cy="32004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0952" y="2276856"/>
            <a:ext cx="3986784" cy="32004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832" y="5998464"/>
            <a:ext cx="6181344" cy="16459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832" y="7059168"/>
            <a:ext cx="6181344" cy="16459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5512" y="5998464"/>
            <a:ext cx="6181344" cy="16459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0072" y="2276856"/>
            <a:ext cx="3986784" cy="32004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5512" y="7059168"/>
            <a:ext cx="6181344" cy="164592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544" y="1755648"/>
            <a:ext cx="411480" cy="41148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544" y="5486400"/>
            <a:ext cx="411480" cy="41148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2664" y="1755648"/>
            <a:ext cx="411480" cy="41148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544" y="6547104"/>
            <a:ext cx="411480" cy="41148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7224" y="5486400"/>
            <a:ext cx="411480" cy="41148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01784" y="1755648"/>
            <a:ext cx="411480" cy="41148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7224" y="6547104"/>
            <a:ext cx="411480" cy="411480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3163824"/>
          <a:ext cx="13021056" cy="1737360"/>
        </p:xfrm>
        <a:graphic>
          <a:graphicData uri="http://schemas.openxmlformats.org/drawingml/2006/table">
            <a:tbl>
              <a:tblPr/>
              <a:tblGrid>
                <a:gridCol w="3255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Product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Focus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Limitation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Opportunity for EcoMind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JouleBug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Social sustainability tracking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Not adaptive or personalized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AI-driven personalization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Olio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Food sharing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Focused only on waste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Broader lifestyle approach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Good On You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Ethical fashion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Category-specific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Cross-domain sustainability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Google One Carbon Insights (Beta)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Carbon footprint data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Data-only, no behavioral guidance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Actionable AI recommendations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0"/>
          <p:cNvSpPr/>
          <p:nvPr/>
        </p:nvSpPr>
        <p:spPr>
          <a:xfrm>
            <a:off x="795528" y="886968"/>
            <a:ext cx="1304848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Market &amp; User Research</a:t>
            </a:r>
            <a:endParaRPr lang="en-US" sz="1960" dirty="0"/>
          </a:p>
        </p:txBody>
      </p:sp>
      <p:sp>
        <p:nvSpPr>
          <p:cNvPr id="26" name="Text 1"/>
          <p:cNvSpPr/>
          <p:nvPr/>
        </p:nvSpPr>
        <p:spPr>
          <a:xfrm>
            <a:off x="795528" y="1335024"/>
            <a:ext cx="13048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Target Users</a:t>
            </a:r>
            <a:endParaRPr lang="en-US" sz="980" dirty="0"/>
          </a:p>
        </p:txBody>
      </p:sp>
      <p:sp>
        <p:nvSpPr>
          <p:cNvPr id="27" name="Text 2"/>
          <p:cNvSpPr/>
          <p:nvPr/>
        </p:nvSpPr>
        <p:spPr>
          <a:xfrm>
            <a:off x="1069848" y="1837944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320" dirty="0"/>
          </a:p>
        </p:txBody>
      </p:sp>
      <p:sp>
        <p:nvSpPr>
          <p:cNvPr id="28" name="Text 3"/>
          <p:cNvSpPr/>
          <p:nvPr/>
        </p:nvSpPr>
        <p:spPr>
          <a:xfrm>
            <a:off x="941832" y="2276856"/>
            <a:ext cx="39867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Urban professionals aged 20–45 interested in sustainability.</a:t>
            </a:r>
            <a:endParaRPr lang="en-US" sz="980" dirty="0"/>
          </a:p>
        </p:txBody>
      </p:sp>
      <p:sp>
        <p:nvSpPr>
          <p:cNvPr id="29" name="Text 4"/>
          <p:cNvSpPr/>
          <p:nvPr/>
        </p:nvSpPr>
        <p:spPr>
          <a:xfrm>
            <a:off x="795528" y="2862072"/>
            <a:ext cx="13048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Competitor Snapshot</a:t>
            </a:r>
            <a:endParaRPr lang="en-US" sz="980" dirty="0"/>
          </a:p>
        </p:txBody>
      </p:sp>
      <p:sp>
        <p:nvSpPr>
          <p:cNvPr id="30" name="Text 5"/>
          <p:cNvSpPr/>
          <p:nvPr/>
        </p:nvSpPr>
        <p:spPr>
          <a:xfrm>
            <a:off x="795528" y="5065776"/>
            <a:ext cx="13048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User Pain Points</a:t>
            </a:r>
            <a:endParaRPr lang="en-US" sz="980" dirty="0"/>
          </a:p>
        </p:txBody>
      </p:sp>
      <p:sp>
        <p:nvSpPr>
          <p:cNvPr id="31" name="Text 6"/>
          <p:cNvSpPr/>
          <p:nvPr/>
        </p:nvSpPr>
        <p:spPr>
          <a:xfrm>
            <a:off x="1069848" y="5568696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320" dirty="0"/>
          </a:p>
        </p:txBody>
      </p:sp>
      <p:sp>
        <p:nvSpPr>
          <p:cNvPr id="32" name="Text 7"/>
          <p:cNvSpPr/>
          <p:nvPr/>
        </p:nvSpPr>
        <p:spPr>
          <a:xfrm>
            <a:off x="5458968" y="1837944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320" dirty="0"/>
          </a:p>
        </p:txBody>
      </p:sp>
      <p:sp>
        <p:nvSpPr>
          <p:cNvPr id="33" name="Text 8"/>
          <p:cNvSpPr/>
          <p:nvPr/>
        </p:nvSpPr>
        <p:spPr>
          <a:xfrm>
            <a:off x="5330952" y="2276856"/>
            <a:ext cx="39867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Students and families aiming to reduce environmental impact.</a:t>
            </a:r>
            <a:endParaRPr lang="en-US" sz="980" dirty="0"/>
          </a:p>
        </p:txBody>
      </p:sp>
      <p:sp>
        <p:nvSpPr>
          <p:cNvPr id="34" name="Text 9"/>
          <p:cNvSpPr/>
          <p:nvPr/>
        </p:nvSpPr>
        <p:spPr>
          <a:xfrm>
            <a:off x="941832" y="5998464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Generic sustainability tips (not location- or lifestyle-specific)</a:t>
            </a:r>
            <a:endParaRPr lang="en-US" sz="980" dirty="0"/>
          </a:p>
        </p:txBody>
      </p:sp>
      <p:sp>
        <p:nvSpPr>
          <p:cNvPr id="35" name="Text 10"/>
          <p:cNvSpPr/>
          <p:nvPr/>
        </p:nvSpPr>
        <p:spPr>
          <a:xfrm>
            <a:off x="1069848" y="6629400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320" dirty="0"/>
          </a:p>
        </p:txBody>
      </p:sp>
      <p:sp>
        <p:nvSpPr>
          <p:cNvPr id="36" name="Text 11"/>
          <p:cNvSpPr/>
          <p:nvPr/>
        </p:nvSpPr>
        <p:spPr>
          <a:xfrm>
            <a:off x="941832" y="7059168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Lack of motivation or gamification</a:t>
            </a:r>
            <a:endParaRPr lang="en-US" sz="980" dirty="0"/>
          </a:p>
        </p:txBody>
      </p:sp>
      <p:sp>
        <p:nvSpPr>
          <p:cNvPr id="37" name="Text 12"/>
          <p:cNvSpPr/>
          <p:nvPr/>
        </p:nvSpPr>
        <p:spPr>
          <a:xfrm>
            <a:off x="7662672" y="5568696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320" dirty="0"/>
          </a:p>
        </p:txBody>
      </p:sp>
      <p:sp>
        <p:nvSpPr>
          <p:cNvPr id="38" name="Text 13"/>
          <p:cNvSpPr/>
          <p:nvPr/>
        </p:nvSpPr>
        <p:spPr>
          <a:xfrm>
            <a:off x="7525512" y="5998464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No measurement of impact</a:t>
            </a:r>
            <a:endParaRPr lang="en-US" sz="980" dirty="0"/>
          </a:p>
        </p:txBody>
      </p:sp>
      <p:sp>
        <p:nvSpPr>
          <p:cNvPr id="39" name="Text 14"/>
          <p:cNvSpPr/>
          <p:nvPr/>
        </p:nvSpPr>
        <p:spPr>
          <a:xfrm>
            <a:off x="9720072" y="2276856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Corporate sustainability enthusiasts tracking personal or office energy use.</a:t>
            </a:r>
            <a:endParaRPr lang="en-US" sz="980" dirty="0"/>
          </a:p>
        </p:txBody>
      </p:sp>
      <p:sp>
        <p:nvSpPr>
          <p:cNvPr id="40" name="Text 15"/>
          <p:cNvSpPr/>
          <p:nvPr/>
        </p:nvSpPr>
        <p:spPr>
          <a:xfrm>
            <a:off x="9857232" y="1837944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320" dirty="0"/>
          </a:p>
        </p:txBody>
      </p:sp>
      <p:sp>
        <p:nvSpPr>
          <p:cNvPr id="41" name="Text 16"/>
          <p:cNvSpPr/>
          <p:nvPr/>
        </p:nvSpPr>
        <p:spPr>
          <a:xfrm>
            <a:off x="7662672" y="6629400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1320" dirty="0"/>
          </a:p>
        </p:txBody>
      </p:sp>
      <p:sp>
        <p:nvSpPr>
          <p:cNvPr id="42" name="Text 17"/>
          <p:cNvSpPr/>
          <p:nvPr/>
        </p:nvSpPr>
        <p:spPr>
          <a:xfrm>
            <a:off x="7525512" y="7059168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Concerns about data privacy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4553712"/>
            <a:ext cx="4279392" cy="141732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6089904"/>
            <a:ext cx="6473952" cy="121615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4553712"/>
            <a:ext cx="4279392" cy="141732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6089904"/>
            <a:ext cx="6473952" cy="121615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2" y="4553712"/>
            <a:ext cx="4279392" cy="141732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1765" y="1691640"/>
            <a:ext cx="2386584" cy="159105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8522" y="1472184"/>
            <a:ext cx="3522054" cy="2057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3487" y="1691640"/>
            <a:ext cx="1060704" cy="1591056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795528" y="950976"/>
            <a:ext cx="13048488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Initial Product Concept</a:t>
            </a:r>
            <a:endParaRPr lang="en-US" sz="2500" dirty="0"/>
          </a:p>
        </p:txBody>
      </p:sp>
      <p:sp>
        <p:nvSpPr>
          <p:cNvPr id="12" name="Text 1"/>
          <p:cNvSpPr/>
          <p:nvPr/>
        </p:nvSpPr>
        <p:spPr>
          <a:xfrm>
            <a:off x="795528" y="3611880"/>
            <a:ext cx="1304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Vision Statement:</a:t>
            </a:r>
            <a:endParaRPr lang="en-US" sz="12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To empower every individual to live sustainably through personalized, data-driven insights and transparent AI recommendations.</a:t>
            </a:r>
            <a:endParaRPr lang="en-US" sz="1250" dirty="0"/>
          </a:p>
        </p:txBody>
      </p:sp>
      <p:sp>
        <p:nvSpPr>
          <p:cNvPr id="13" name="Text 2"/>
          <p:cNvSpPr/>
          <p:nvPr/>
        </p:nvSpPr>
        <p:spPr>
          <a:xfrm>
            <a:off x="795528" y="4187952"/>
            <a:ext cx="1304848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Core Features (MVP Focus)</a:t>
            </a:r>
            <a:endParaRPr lang="en-US" sz="1250" dirty="0"/>
          </a:p>
        </p:txBody>
      </p:sp>
      <p:sp>
        <p:nvSpPr>
          <p:cNvPr id="14" name="Text 3"/>
          <p:cNvSpPr/>
          <p:nvPr/>
        </p:nvSpPr>
        <p:spPr>
          <a:xfrm>
            <a:off x="969264" y="4736592"/>
            <a:ext cx="38953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Personalized Eco Recommender</a:t>
            </a:r>
            <a:endParaRPr lang="en-US" sz="1560" dirty="0"/>
          </a:p>
        </p:txBody>
      </p:sp>
      <p:sp>
        <p:nvSpPr>
          <p:cNvPr id="15" name="Text 4"/>
          <p:cNvSpPr/>
          <p:nvPr/>
        </p:nvSpPr>
        <p:spPr>
          <a:xfrm>
            <a:off x="969264" y="5084064"/>
            <a:ext cx="38953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\</a:t>
            </a:r>
            <a:endParaRPr lang="en-US" sz="1250" dirty="0"/>
          </a:p>
        </p:txBody>
      </p:sp>
      <p:sp>
        <p:nvSpPr>
          <p:cNvPr id="16" name="Text 5"/>
          <p:cNvSpPr/>
          <p:nvPr/>
        </p:nvSpPr>
        <p:spPr>
          <a:xfrm>
            <a:off x="969264" y="5376672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AI learns user patterns (transport, diet, shopping) and gives contextual eco-friendly actions.</a:t>
            </a:r>
            <a:endParaRPr lang="en-US" sz="1250" dirty="0"/>
          </a:p>
        </p:txBody>
      </p:sp>
      <p:sp>
        <p:nvSpPr>
          <p:cNvPr id="17" name="Text 6"/>
          <p:cNvSpPr/>
          <p:nvPr/>
        </p:nvSpPr>
        <p:spPr>
          <a:xfrm>
            <a:off x="969264" y="6281928"/>
            <a:ext cx="609904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Responsible AI Transparency Panel</a:t>
            </a:r>
            <a:endParaRPr lang="en-US" sz="1560" dirty="0"/>
          </a:p>
        </p:txBody>
      </p:sp>
      <p:sp>
        <p:nvSpPr>
          <p:cNvPr id="18" name="Text 7"/>
          <p:cNvSpPr/>
          <p:nvPr/>
        </p:nvSpPr>
        <p:spPr>
          <a:xfrm>
            <a:off x="969264" y="6620256"/>
            <a:ext cx="60990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\</a:t>
            </a:r>
            <a:endParaRPr lang="en-US" sz="1250" dirty="0"/>
          </a:p>
        </p:txBody>
      </p:sp>
      <p:sp>
        <p:nvSpPr>
          <p:cNvPr id="19" name="Text 8"/>
          <p:cNvSpPr/>
          <p:nvPr/>
        </p:nvSpPr>
        <p:spPr>
          <a:xfrm>
            <a:off x="969264" y="6912864"/>
            <a:ext cx="60990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Shows “why” behind each AI recommendation to ensure user trust.</a:t>
            </a:r>
            <a:endParaRPr lang="en-US" sz="1250" dirty="0"/>
          </a:p>
        </p:txBody>
      </p:sp>
      <p:sp>
        <p:nvSpPr>
          <p:cNvPr id="20" name="Text 9"/>
          <p:cNvSpPr/>
          <p:nvPr/>
        </p:nvSpPr>
        <p:spPr>
          <a:xfrm>
            <a:off x="5376672" y="4736592"/>
            <a:ext cx="38953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Impact Tracker</a:t>
            </a:r>
            <a:endParaRPr lang="en-US" sz="1560" dirty="0"/>
          </a:p>
        </p:txBody>
      </p:sp>
      <p:sp>
        <p:nvSpPr>
          <p:cNvPr id="21" name="Text 10"/>
          <p:cNvSpPr/>
          <p:nvPr/>
        </p:nvSpPr>
        <p:spPr>
          <a:xfrm>
            <a:off x="5376672" y="5084064"/>
            <a:ext cx="38953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\</a:t>
            </a:r>
            <a:endParaRPr lang="en-US" sz="1250" dirty="0"/>
          </a:p>
        </p:txBody>
      </p:sp>
      <p:sp>
        <p:nvSpPr>
          <p:cNvPr id="22" name="Text 11"/>
          <p:cNvSpPr/>
          <p:nvPr/>
        </p:nvSpPr>
        <p:spPr>
          <a:xfrm>
            <a:off x="5376672" y="5376672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Tracks estimated CO₂ savings and water usage reduction through behavior change.</a:t>
            </a:r>
            <a:endParaRPr lang="en-US" sz="1250" dirty="0"/>
          </a:p>
        </p:txBody>
      </p:sp>
      <p:sp>
        <p:nvSpPr>
          <p:cNvPr id="23" name="Text 12"/>
          <p:cNvSpPr/>
          <p:nvPr/>
        </p:nvSpPr>
        <p:spPr>
          <a:xfrm>
            <a:off x="7571232" y="6281928"/>
            <a:ext cx="609904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Gamification Layer (Optional for MVP)</a:t>
            </a:r>
            <a:endParaRPr lang="en-US" sz="1560" dirty="0"/>
          </a:p>
        </p:txBody>
      </p:sp>
      <p:sp>
        <p:nvSpPr>
          <p:cNvPr id="24" name="Text 13"/>
          <p:cNvSpPr/>
          <p:nvPr/>
        </p:nvSpPr>
        <p:spPr>
          <a:xfrm>
            <a:off x="7571232" y="6620256"/>
            <a:ext cx="60990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\</a:t>
            </a:r>
            <a:endParaRPr lang="en-US" sz="1250" dirty="0"/>
          </a:p>
        </p:txBody>
      </p:sp>
      <p:sp>
        <p:nvSpPr>
          <p:cNvPr id="25" name="Text 14"/>
          <p:cNvSpPr/>
          <p:nvPr/>
        </p:nvSpPr>
        <p:spPr>
          <a:xfrm>
            <a:off x="7571232" y="6912864"/>
            <a:ext cx="60990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Rewards or badges for eco-friendly milestones.</a:t>
            </a:r>
            <a:endParaRPr lang="en-US" sz="1250" dirty="0"/>
          </a:p>
        </p:txBody>
      </p:sp>
      <p:sp>
        <p:nvSpPr>
          <p:cNvPr id="26" name="Text 15"/>
          <p:cNvSpPr/>
          <p:nvPr/>
        </p:nvSpPr>
        <p:spPr>
          <a:xfrm>
            <a:off x="9774936" y="4736592"/>
            <a:ext cx="38953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Adaptive Dashboard</a:t>
            </a:r>
            <a:endParaRPr lang="en-US" sz="1560" dirty="0"/>
          </a:p>
        </p:txBody>
      </p:sp>
      <p:sp>
        <p:nvSpPr>
          <p:cNvPr id="27" name="Text 16"/>
          <p:cNvSpPr/>
          <p:nvPr/>
        </p:nvSpPr>
        <p:spPr>
          <a:xfrm>
            <a:off x="9774936" y="5084064"/>
            <a:ext cx="38953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\</a:t>
            </a:r>
            <a:endParaRPr lang="en-US" sz="1250" dirty="0"/>
          </a:p>
        </p:txBody>
      </p:sp>
      <p:sp>
        <p:nvSpPr>
          <p:cNvPr id="28" name="Text 17"/>
          <p:cNvSpPr/>
          <p:nvPr/>
        </p:nvSpPr>
        <p:spPr>
          <a:xfrm>
            <a:off x="9774936" y="5376672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Visualizes daily/weekly sustainability score and progress over time.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039571"/>
              </p:ext>
            </p:extLst>
          </p:nvPr>
        </p:nvGraphicFramePr>
        <p:xfrm>
          <a:off x="795528" y="2157984"/>
          <a:ext cx="13021056" cy="4754880"/>
        </p:xfrm>
        <a:graphic>
          <a:graphicData uri="http://schemas.openxmlformats.org/drawingml/2006/table">
            <a:tbl>
              <a:tblPr/>
              <a:tblGrid>
                <a:gridCol w="3255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Milestone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Description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Tool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Timeline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M1:Discovery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Problem validation &amp; surveys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Google Forms, Canva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Week 1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M2:Ideation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Define AI approach, personas, and features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Notion, Figma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Week 2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M3:MVP Design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Create low-fi prototype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Canva/Figma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Week 3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M4:Evaluation Setup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Define metrics, build </a:t>
                      </a:r>
                      <a:r>
                        <a:rPr lang="en-US" sz="1780" dirty="0" err="1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Evalutation</a:t>
                      </a: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 tests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Google Sheets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Week 4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M5:Testing &amp; Iteration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Mock usability &amp; AI feedback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 err="1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Datawrapper</a:t>
                      </a: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/ Tableau/ </a:t>
                      </a:r>
                      <a:r>
                        <a:rPr lang="en-US" sz="1780" dirty="0" err="1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PowerBI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Week 5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795528" y="1335024"/>
            <a:ext cx="13048488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460"/>
              </a:lnSpc>
              <a:buNone/>
            </a:pPr>
            <a:r>
              <a:rPr lang="en-US" sz="357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Milestones &amp; Resources (Project Plan)</a:t>
            </a:r>
            <a:endParaRPr lang="en-US" sz="3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2724912"/>
          <a:ext cx="13030200" cy="3621024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Role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Responsibility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Tool/Platform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Product Manager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Strategy, scope, and storytelling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Notion, Trello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Data Scientist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Build adaptive AI model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Google Colab, OpenRouter API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UX/UI Designer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Wireframes, prototype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Figma/Canva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Sustainability Expert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Ensure valid eco metrics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Research or volunteer support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Evaluator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Conduct AI Evals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Google Sheets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795528" y="1901952"/>
            <a:ext cx="13048488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460"/>
              </a:lnSpc>
              <a:buNone/>
            </a:pPr>
            <a:r>
              <a:rPr lang="en-US" sz="357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Resource Allocation</a:t>
            </a:r>
            <a:endParaRPr lang="en-US" sz="35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1124712"/>
            <a:ext cx="2779776" cy="23317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6519672"/>
            <a:ext cx="13048488" cy="3657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051560" y="1380744"/>
            <a:ext cx="226771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7" name="Text 1"/>
          <p:cNvSpPr/>
          <p:nvPr/>
        </p:nvSpPr>
        <p:spPr>
          <a:xfrm>
            <a:off x="1051560" y="1801368"/>
            <a:ext cx="2267712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60" dirty="0">
                <a:solidFill>
                  <a:srgbClr val="C2C2C2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02</a:t>
            </a:r>
            <a:endParaRPr lang="en-US" sz="6160" dirty="0"/>
          </a:p>
        </p:txBody>
      </p:sp>
      <p:sp>
        <p:nvSpPr>
          <p:cNvPr id="8" name="Text 2"/>
          <p:cNvSpPr/>
          <p:nvPr/>
        </p:nvSpPr>
        <p:spPr>
          <a:xfrm>
            <a:off x="1051560" y="2916936"/>
            <a:ext cx="226771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9" name="Text 3"/>
          <p:cNvSpPr/>
          <p:nvPr/>
        </p:nvSpPr>
        <p:spPr>
          <a:xfrm>
            <a:off x="795528" y="3941064"/>
            <a:ext cx="1304848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10" name="Text 4"/>
          <p:cNvSpPr/>
          <p:nvPr/>
        </p:nvSpPr>
        <p:spPr>
          <a:xfrm>
            <a:off x="4233672" y="1143000"/>
            <a:ext cx="9592056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11" name="Text 5"/>
          <p:cNvSpPr/>
          <p:nvPr/>
        </p:nvSpPr>
        <p:spPr>
          <a:xfrm>
            <a:off x="795528" y="4480560"/>
            <a:ext cx="1304848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12" name="Text 6"/>
          <p:cNvSpPr/>
          <p:nvPr/>
        </p:nvSpPr>
        <p:spPr>
          <a:xfrm>
            <a:off x="795528" y="5020056"/>
            <a:ext cx="1304848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13" name="Text 7"/>
          <p:cNvSpPr/>
          <p:nvPr/>
        </p:nvSpPr>
        <p:spPr>
          <a:xfrm>
            <a:off x="795528" y="5559552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5580"/>
              </a:lnSpc>
              <a:buNone/>
            </a:pPr>
            <a:r>
              <a:rPr lang="en-US" sz="44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Build &amp; Validate</a:t>
            </a:r>
            <a:endParaRPr lang="en-US" sz="4460" dirty="0"/>
          </a:p>
        </p:txBody>
      </p:sp>
      <p:sp>
        <p:nvSpPr>
          <p:cNvPr id="14" name="Text 8"/>
          <p:cNvSpPr/>
          <p:nvPr/>
        </p:nvSpPr>
        <p:spPr>
          <a:xfrm>
            <a:off x="795528" y="6803136"/>
            <a:ext cx="1304848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37590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2029968"/>
            <a:ext cx="4279392" cy="73152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2029968"/>
            <a:ext cx="4279392" cy="731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6391656"/>
            <a:ext cx="4279392" cy="73152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7232904"/>
            <a:ext cx="6483096" cy="53949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6391656"/>
            <a:ext cx="4279392" cy="73152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768" y="2029968"/>
            <a:ext cx="4279392" cy="73152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7232904"/>
            <a:ext cx="6483096" cy="53949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768" y="6391656"/>
            <a:ext cx="4279392" cy="73152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3255264"/>
          <a:ext cx="13030200" cy="2660904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Feature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Description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AI Role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User Behavior Learning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Collect user lifestyle inputs (e.g., travel, diet, energy habits)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Uses clustering &amp; reinforcement learning for personalization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Eco Recommendation Engine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Suggest daily eco-friendly actions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NLP-based recommendation with context-awareness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Impact Tracker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Quantify estimated carbon/water savings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Regression or rule-based impact models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AI Transparency Panel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Explain why suggestions are made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Generates natural-language explanations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Feedback Loop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Users like/dislike suggestions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Used to improve AI model adaptivity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0"/>
          <p:cNvSpPr/>
          <p:nvPr/>
        </p:nvSpPr>
        <p:spPr>
          <a:xfrm>
            <a:off x="795528" y="630936"/>
            <a:ext cx="1304848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Development Strategy</a:t>
            </a:r>
            <a:endParaRPr lang="en-US" sz="2320" dirty="0"/>
          </a:p>
        </p:txBody>
      </p:sp>
      <p:sp>
        <p:nvSpPr>
          <p:cNvPr id="13" name="Text 1"/>
          <p:cNvSpPr/>
          <p:nvPr/>
        </p:nvSpPr>
        <p:spPr>
          <a:xfrm>
            <a:off x="795528" y="1161288"/>
            <a:ext cx="130484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MVP Overview</a:t>
            </a:r>
            <a:endParaRPr lang="en-US" sz="116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 EcoMind MVP (Minimum Viable Product) will focus on demonstrating the AI’s ability to learn user patterns and provide personalized sustainable recommendations.</a:t>
            </a:r>
            <a:endParaRPr lang="en-US" sz="1160" dirty="0"/>
          </a:p>
        </p:txBody>
      </p:sp>
      <p:sp>
        <p:nvSpPr>
          <p:cNvPr id="14" name="Text 2"/>
          <p:cNvSpPr/>
          <p:nvPr/>
        </p:nvSpPr>
        <p:spPr>
          <a:xfrm>
            <a:off x="795528" y="1700784"/>
            <a:ext cx="130484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MVP Goals</a:t>
            </a:r>
            <a:endParaRPr lang="en-US" sz="1160" dirty="0"/>
          </a:p>
        </p:txBody>
      </p:sp>
      <p:sp>
        <p:nvSpPr>
          <p:cNvPr id="15" name="Text 3"/>
          <p:cNvSpPr/>
          <p:nvPr/>
        </p:nvSpPr>
        <p:spPr>
          <a:xfrm>
            <a:off x="960120" y="2212848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Deliver meaningful, actionable sustainability tips based on lifestyle and location data.</a:t>
            </a:r>
            <a:endParaRPr lang="en-US" sz="1160" dirty="0"/>
          </a:p>
        </p:txBody>
      </p:sp>
      <p:sp>
        <p:nvSpPr>
          <p:cNvPr id="16" name="Text 4"/>
          <p:cNvSpPr/>
          <p:nvPr/>
        </p:nvSpPr>
        <p:spPr>
          <a:xfrm>
            <a:off x="795528" y="2907792"/>
            <a:ext cx="130484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Core MVP Features</a:t>
            </a:r>
            <a:endParaRPr lang="en-US" sz="1160" dirty="0"/>
          </a:p>
        </p:txBody>
      </p:sp>
      <p:sp>
        <p:nvSpPr>
          <p:cNvPr id="17" name="Text 5"/>
          <p:cNvSpPr/>
          <p:nvPr/>
        </p:nvSpPr>
        <p:spPr>
          <a:xfrm>
            <a:off x="5358384" y="2212848"/>
            <a:ext cx="393192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Measure user engagement and behavioral change.</a:t>
            </a:r>
            <a:endParaRPr lang="en-US" sz="1160" dirty="0"/>
          </a:p>
        </p:txBody>
      </p:sp>
      <p:sp>
        <p:nvSpPr>
          <p:cNvPr id="18" name="Text 6"/>
          <p:cNvSpPr/>
          <p:nvPr/>
        </p:nvSpPr>
        <p:spPr>
          <a:xfrm>
            <a:off x="795528" y="6053328"/>
            <a:ext cx="130484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AI Workflow Example</a:t>
            </a:r>
            <a:endParaRPr lang="en-US" sz="1160" dirty="0"/>
          </a:p>
        </p:txBody>
      </p:sp>
      <p:sp>
        <p:nvSpPr>
          <p:cNvPr id="19" name="Text 7"/>
          <p:cNvSpPr/>
          <p:nvPr/>
        </p:nvSpPr>
        <p:spPr>
          <a:xfrm>
            <a:off x="960120" y="6565392"/>
            <a:ext cx="393192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User inputs basic habits →</a:t>
            </a:r>
            <a:endParaRPr lang="en-US" sz="1160" dirty="0"/>
          </a:p>
        </p:txBody>
      </p:sp>
      <p:sp>
        <p:nvSpPr>
          <p:cNvPr id="20" name="Text 8"/>
          <p:cNvSpPr/>
          <p:nvPr/>
        </p:nvSpPr>
        <p:spPr>
          <a:xfrm>
            <a:off x="960120" y="7406640"/>
            <a:ext cx="612648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User feedback trains adaptive model →</a:t>
            </a:r>
            <a:endParaRPr lang="en-US" sz="1160" dirty="0"/>
          </a:p>
        </p:txBody>
      </p:sp>
      <p:sp>
        <p:nvSpPr>
          <p:cNvPr id="21" name="Text 9"/>
          <p:cNvSpPr/>
          <p:nvPr/>
        </p:nvSpPr>
        <p:spPr>
          <a:xfrm>
            <a:off x="5358384" y="6565392"/>
            <a:ext cx="393192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AI predicts eco score (baseline) →</a:t>
            </a:r>
            <a:endParaRPr lang="en-US" sz="1160" dirty="0"/>
          </a:p>
        </p:txBody>
      </p:sp>
      <p:sp>
        <p:nvSpPr>
          <p:cNvPr id="22" name="Text 10"/>
          <p:cNvSpPr/>
          <p:nvPr/>
        </p:nvSpPr>
        <p:spPr>
          <a:xfrm>
            <a:off x="9756648" y="2212848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Demonstrate responsible AI transparency and explainability.</a:t>
            </a:r>
            <a:endParaRPr lang="en-US" sz="1160" dirty="0"/>
          </a:p>
        </p:txBody>
      </p:sp>
      <p:sp>
        <p:nvSpPr>
          <p:cNvPr id="23" name="Text 11"/>
          <p:cNvSpPr/>
          <p:nvPr/>
        </p:nvSpPr>
        <p:spPr>
          <a:xfrm>
            <a:off x="7552944" y="7406640"/>
            <a:ext cx="612648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Dashboard updates with new sustainability score.</a:t>
            </a:r>
            <a:endParaRPr lang="en-US" sz="1160" dirty="0"/>
          </a:p>
        </p:txBody>
      </p:sp>
      <p:sp>
        <p:nvSpPr>
          <p:cNvPr id="24" name="Text 12"/>
          <p:cNvSpPr/>
          <p:nvPr/>
        </p:nvSpPr>
        <p:spPr>
          <a:xfrm>
            <a:off x="9756648" y="6565392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Recommender suggests actions (e.g., “Take public transport twice a week”) →</a:t>
            </a:r>
            <a:endParaRPr lang="en-US" sz="11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1764792"/>
            <a:ext cx="6455664" cy="128930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566160"/>
            <a:ext cx="4251960" cy="84124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792" y="3566160"/>
            <a:ext cx="4251960" cy="84124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1764792"/>
            <a:ext cx="6455664" cy="128930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3566160"/>
            <a:ext cx="4251960" cy="84124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1819656"/>
            <a:ext cx="5971032" cy="128930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" y="3611880"/>
            <a:ext cx="3776472" cy="84124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8424" y="3611880"/>
            <a:ext cx="3776472" cy="84124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2984" y="1819656"/>
            <a:ext cx="5971032" cy="128930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7544" y="3611880"/>
            <a:ext cx="3776472" cy="841248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1746504"/>
            <a:ext cx="365760" cy="36576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3547872"/>
            <a:ext cx="365760" cy="36576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4648" y="3547872"/>
            <a:ext cx="365760" cy="36576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9208" y="1746504"/>
            <a:ext cx="365760" cy="36576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3768" y="3547872"/>
            <a:ext cx="365760" cy="36576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4910328"/>
          <a:ext cx="13030200" cy="2468880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Metric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Definition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Target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Engagement Rate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% of users interacting weekly with recommendations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&gt;60%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Adoption Rate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% of users completing suggested actions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&gt;40%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AI Accuracy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Alignment between predicted &amp; actual eco impact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&gt;75%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Satisfaction Score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User rating of relevance &amp; transparency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&gt;80%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Retention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% of users active after 30 days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&gt;50%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0"/>
          <p:cNvSpPr/>
          <p:nvPr/>
        </p:nvSpPr>
        <p:spPr>
          <a:xfrm>
            <a:off x="795528" y="877824"/>
            <a:ext cx="1304848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Data Strategy &amp; Analytics Plan</a:t>
            </a:r>
            <a:endParaRPr lang="en-US" sz="2320" dirty="0"/>
          </a:p>
        </p:txBody>
      </p:sp>
      <p:sp>
        <p:nvSpPr>
          <p:cNvPr id="20" name="Text 1"/>
          <p:cNvSpPr/>
          <p:nvPr/>
        </p:nvSpPr>
        <p:spPr>
          <a:xfrm>
            <a:off x="795528" y="1417320"/>
            <a:ext cx="130484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Data Inputs</a:t>
            </a:r>
            <a:endParaRPr lang="en-US" sz="1160" dirty="0"/>
          </a:p>
        </p:txBody>
      </p:sp>
      <p:sp>
        <p:nvSpPr>
          <p:cNvPr id="21" name="Text 2"/>
          <p:cNvSpPr/>
          <p:nvPr/>
        </p:nvSpPr>
        <p:spPr>
          <a:xfrm>
            <a:off x="896112" y="1773936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74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740" dirty="0"/>
          </a:p>
        </p:txBody>
      </p:sp>
      <p:sp>
        <p:nvSpPr>
          <p:cNvPr id="22" name="Text 3"/>
          <p:cNvSpPr/>
          <p:nvPr/>
        </p:nvSpPr>
        <p:spPr>
          <a:xfrm>
            <a:off x="1280160" y="1819656"/>
            <a:ext cx="59710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User-generated data</a:t>
            </a:r>
            <a:endParaRPr lang="en-US" sz="1450" dirty="0"/>
          </a:p>
        </p:txBody>
      </p:sp>
      <p:sp>
        <p:nvSpPr>
          <p:cNvPr id="23" name="Text 4"/>
          <p:cNvSpPr/>
          <p:nvPr/>
        </p:nvSpPr>
        <p:spPr>
          <a:xfrm>
            <a:off x="1280160" y="2176272"/>
            <a:ext cx="5971032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Lifestyle info, preferences, feedback.</a:t>
            </a:r>
            <a:endParaRPr lang="en-US" sz="1160" dirty="0"/>
          </a:p>
        </p:txBody>
      </p:sp>
      <p:sp>
        <p:nvSpPr>
          <p:cNvPr id="24" name="Text 5"/>
          <p:cNvSpPr/>
          <p:nvPr/>
        </p:nvSpPr>
        <p:spPr>
          <a:xfrm>
            <a:off x="795528" y="3209544"/>
            <a:ext cx="130484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Data Management Principles</a:t>
            </a:r>
            <a:endParaRPr lang="en-US" sz="1160" dirty="0"/>
          </a:p>
        </p:txBody>
      </p:sp>
      <p:sp>
        <p:nvSpPr>
          <p:cNvPr id="25" name="Text 6"/>
          <p:cNvSpPr/>
          <p:nvPr/>
        </p:nvSpPr>
        <p:spPr>
          <a:xfrm>
            <a:off x="896112" y="3575304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74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740" dirty="0"/>
          </a:p>
        </p:txBody>
      </p:sp>
      <p:sp>
        <p:nvSpPr>
          <p:cNvPr id="26" name="Text 7"/>
          <p:cNvSpPr/>
          <p:nvPr/>
        </p:nvSpPr>
        <p:spPr>
          <a:xfrm>
            <a:off x="1280160" y="3611880"/>
            <a:ext cx="37764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Privacy-first design</a:t>
            </a:r>
            <a:endParaRPr lang="en-US" sz="1450" dirty="0"/>
          </a:p>
        </p:txBody>
      </p:sp>
      <p:sp>
        <p:nvSpPr>
          <p:cNvPr id="27" name="Text 8"/>
          <p:cNvSpPr/>
          <p:nvPr/>
        </p:nvSpPr>
        <p:spPr>
          <a:xfrm>
            <a:off x="1280160" y="3977640"/>
            <a:ext cx="37764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User data anonymized and stored locally or on secure cloud.</a:t>
            </a:r>
            <a:endParaRPr lang="en-US" sz="1160" dirty="0"/>
          </a:p>
        </p:txBody>
      </p:sp>
      <p:sp>
        <p:nvSpPr>
          <p:cNvPr id="28" name="Text 9"/>
          <p:cNvSpPr/>
          <p:nvPr/>
        </p:nvSpPr>
        <p:spPr>
          <a:xfrm>
            <a:off x="795528" y="4562856"/>
            <a:ext cx="130484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Success Metrics</a:t>
            </a:r>
            <a:endParaRPr lang="en-US" sz="1160" dirty="0"/>
          </a:p>
        </p:txBody>
      </p:sp>
      <p:sp>
        <p:nvSpPr>
          <p:cNvPr id="29" name="Text 10"/>
          <p:cNvSpPr/>
          <p:nvPr/>
        </p:nvSpPr>
        <p:spPr>
          <a:xfrm>
            <a:off x="5294376" y="3575304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74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740" dirty="0"/>
          </a:p>
        </p:txBody>
      </p:sp>
      <p:sp>
        <p:nvSpPr>
          <p:cNvPr id="30" name="Text 11"/>
          <p:cNvSpPr/>
          <p:nvPr/>
        </p:nvSpPr>
        <p:spPr>
          <a:xfrm>
            <a:off x="5678424" y="3611880"/>
            <a:ext cx="37764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Transparency</a:t>
            </a:r>
            <a:endParaRPr lang="en-US" sz="1450" dirty="0"/>
          </a:p>
        </p:txBody>
      </p:sp>
      <p:sp>
        <p:nvSpPr>
          <p:cNvPr id="31" name="Text 12"/>
          <p:cNvSpPr/>
          <p:nvPr/>
        </p:nvSpPr>
        <p:spPr>
          <a:xfrm>
            <a:off x="5678424" y="3977640"/>
            <a:ext cx="3776472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Explain how AI uses data to generate insights.</a:t>
            </a:r>
            <a:endParaRPr lang="en-US" sz="1160" dirty="0"/>
          </a:p>
        </p:txBody>
      </p:sp>
      <p:sp>
        <p:nvSpPr>
          <p:cNvPr id="32" name="Text 13"/>
          <p:cNvSpPr/>
          <p:nvPr/>
        </p:nvSpPr>
        <p:spPr>
          <a:xfrm>
            <a:off x="7498080" y="1773936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74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740" dirty="0"/>
          </a:p>
        </p:txBody>
      </p:sp>
      <p:sp>
        <p:nvSpPr>
          <p:cNvPr id="33" name="Text 14"/>
          <p:cNvSpPr/>
          <p:nvPr/>
        </p:nvSpPr>
        <p:spPr>
          <a:xfrm>
            <a:off x="7872984" y="1819656"/>
            <a:ext cx="59710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Open data sources</a:t>
            </a:r>
            <a:endParaRPr lang="en-US" sz="1450" dirty="0"/>
          </a:p>
        </p:txBody>
      </p:sp>
      <p:sp>
        <p:nvSpPr>
          <p:cNvPr id="34" name="Text 15"/>
          <p:cNvSpPr/>
          <p:nvPr/>
        </p:nvSpPr>
        <p:spPr>
          <a:xfrm>
            <a:off x="7872984" y="2176272"/>
            <a:ext cx="5971032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Global Carbon Atlas – average carbon footprint factors.</a:t>
            </a:r>
            <a:endParaRPr lang="en-US" sz="1160" dirty="0"/>
          </a:p>
        </p:txBody>
      </p:sp>
      <p:sp>
        <p:nvSpPr>
          <p:cNvPr id="35" name="Text 16"/>
          <p:cNvSpPr/>
          <p:nvPr/>
        </p:nvSpPr>
        <p:spPr>
          <a:xfrm>
            <a:off x="7872984" y="2496312"/>
            <a:ext cx="5971032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OpenWeatherMap API – location-based weather context.</a:t>
            </a:r>
            <a:endParaRPr lang="en-US" sz="1160" dirty="0"/>
          </a:p>
        </p:txBody>
      </p:sp>
      <p:sp>
        <p:nvSpPr>
          <p:cNvPr id="36" name="Text 17"/>
          <p:cNvSpPr/>
          <p:nvPr/>
        </p:nvSpPr>
        <p:spPr>
          <a:xfrm>
            <a:off x="7872984" y="2816352"/>
            <a:ext cx="5971032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Eco Data Commons – sustainability indexes (optional).</a:t>
            </a:r>
            <a:endParaRPr lang="en-US" sz="1160" dirty="0"/>
          </a:p>
        </p:txBody>
      </p:sp>
      <p:sp>
        <p:nvSpPr>
          <p:cNvPr id="37" name="Text 18"/>
          <p:cNvSpPr/>
          <p:nvPr/>
        </p:nvSpPr>
        <p:spPr>
          <a:xfrm>
            <a:off x="9692640" y="3575304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74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740" dirty="0"/>
          </a:p>
        </p:txBody>
      </p:sp>
      <p:sp>
        <p:nvSpPr>
          <p:cNvPr id="38" name="Text 19"/>
          <p:cNvSpPr/>
          <p:nvPr/>
        </p:nvSpPr>
        <p:spPr>
          <a:xfrm>
            <a:off x="10067544" y="3611880"/>
            <a:ext cx="37764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Fairness</a:t>
            </a:r>
            <a:endParaRPr lang="en-US" sz="1450" dirty="0"/>
          </a:p>
        </p:txBody>
      </p:sp>
      <p:sp>
        <p:nvSpPr>
          <p:cNvPr id="39" name="Text 20"/>
          <p:cNvSpPr/>
          <p:nvPr/>
        </p:nvSpPr>
        <p:spPr>
          <a:xfrm>
            <a:off x="10067544" y="3977640"/>
            <a:ext cx="3776472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Avoid biased assumptions about user habits.</a:t>
            </a:r>
            <a:endParaRPr lang="en-US" sz="11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5129784"/>
            <a:ext cx="4279392" cy="112471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6766560"/>
            <a:ext cx="4279392" cy="5760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5129784"/>
            <a:ext cx="4279392" cy="112471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648" y="6766560"/>
            <a:ext cx="4279392" cy="57607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2" y="5129784"/>
            <a:ext cx="4279392" cy="112471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2912" y="6766560"/>
            <a:ext cx="4279392" cy="57607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498101"/>
              </p:ext>
            </p:extLst>
          </p:nvPr>
        </p:nvGraphicFramePr>
        <p:xfrm>
          <a:off x="795528" y="2240280"/>
          <a:ext cx="13030200" cy="2331720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Evaluation Type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Description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Example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Goldens (Baseline Truths)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Predefined expected outputs for typical inputs.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Input: “Eats vegetarian meals” → Output: “Recommend low-carbon meal plans.”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Auto Raters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Automated scripts to rate model’s recommendation quality.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Rate suggestions on relevance (1–5 scale).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LLM-as-a-Judge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Use GPT-like models to compare AI suggestions against gold standards.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Judge reasoning quality &amp; ethical tone.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0"/>
          <p:cNvSpPr/>
          <p:nvPr/>
        </p:nvSpPr>
        <p:spPr>
          <a:xfrm>
            <a:off x="795528" y="914400"/>
            <a:ext cx="13048488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Evaluations and Testing (AI Evaluation Framework)</a:t>
            </a:r>
            <a:endParaRPr lang="en-US" sz="2500" dirty="0"/>
          </a:p>
        </p:txBody>
      </p:sp>
      <p:sp>
        <p:nvSpPr>
          <p:cNvPr id="11" name="Text 1"/>
          <p:cNvSpPr/>
          <p:nvPr/>
        </p:nvSpPr>
        <p:spPr>
          <a:xfrm>
            <a:off x="795528" y="1490472"/>
            <a:ext cx="1304848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Goal: Ensure EcoMind’s AI performs responsibly and improves ethically over time.</a:t>
            </a:r>
            <a:endParaRPr lang="en-US" sz="1250" dirty="0"/>
          </a:p>
        </p:txBody>
      </p:sp>
      <p:sp>
        <p:nvSpPr>
          <p:cNvPr id="12" name="Text 2"/>
          <p:cNvSpPr/>
          <p:nvPr/>
        </p:nvSpPr>
        <p:spPr>
          <a:xfrm>
            <a:off x="795528" y="1865376"/>
            <a:ext cx="1304848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Evaluation Components</a:t>
            </a:r>
            <a:endParaRPr lang="en-US" sz="1250" dirty="0"/>
          </a:p>
        </p:txBody>
      </p:sp>
      <p:sp>
        <p:nvSpPr>
          <p:cNvPr id="9" name="Text 3"/>
          <p:cNvSpPr/>
          <p:nvPr/>
        </p:nvSpPr>
        <p:spPr>
          <a:xfrm>
            <a:off x="795528" y="4764024"/>
            <a:ext cx="1304848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Test Scenarios</a:t>
            </a:r>
            <a:endParaRPr lang="en-US" sz="1250" dirty="0"/>
          </a:p>
        </p:txBody>
      </p:sp>
      <p:sp>
        <p:nvSpPr>
          <p:cNvPr id="14" name="Text 4"/>
          <p:cNvSpPr/>
          <p:nvPr/>
        </p:nvSpPr>
        <p:spPr>
          <a:xfrm>
            <a:off x="969264" y="5312664"/>
            <a:ext cx="38953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60" dirty="0">
                <a:solidFill>
                  <a:srgbClr val="C2C2C2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Accuracy Evaluation</a:t>
            </a:r>
            <a:endParaRPr lang="en-US" sz="1560" dirty="0"/>
          </a:p>
        </p:txBody>
      </p:sp>
      <p:sp>
        <p:nvSpPr>
          <p:cNvPr id="15" name="Text 5"/>
          <p:cNvSpPr/>
          <p:nvPr/>
        </p:nvSpPr>
        <p:spPr>
          <a:xfrm>
            <a:off x="969264" y="5660136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Compare AI recommendations with verified sustainability actions.</a:t>
            </a:r>
            <a:endParaRPr lang="en-US" sz="1250" dirty="0"/>
          </a:p>
        </p:txBody>
      </p:sp>
      <p:sp>
        <p:nvSpPr>
          <p:cNvPr id="16" name="Text 6"/>
          <p:cNvSpPr/>
          <p:nvPr/>
        </p:nvSpPr>
        <p:spPr>
          <a:xfrm>
            <a:off x="795528" y="6409944"/>
            <a:ext cx="1304848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Key Findings:</a:t>
            </a:r>
            <a:endParaRPr lang="en-US" sz="1250" dirty="0"/>
          </a:p>
        </p:txBody>
      </p:sp>
      <p:sp>
        <p:nvSpPr>
          <p:cNvPr id="17" name="Text 7"/>
          <p:cNvSpPr/>
          <p:nvPr/>
        </p:nvSpPr>
        <p:spPr>
          <a:xfrm>
            <a:off x="969264" y="6958584"/>
            <a:ext cx="38953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85% recommendation relevance</a:t>
            </a:r>
            <a:endParaRPr lang="en-US" sz="1250" dirty="0"/>
          </a:p>
        </p:txBody>
      </p:sp>
      <p:sp>
        <p:nvSpPr>
          <p:cNvPr id="18" name="Text 8"/>
          <p:cNvSpPr/>
          <p:nvPr/>
        </p:nvSpPr>
        <p:spPr>
          <a:xfrm>
            <a:off x="5376672" y="5312664"/>
            <a:ext cx="38953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60" dirty="0">
                <a:solidFill>
                  <a:srgbClr val="C2C2C2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Bias Evaluation</a:t>
            </a:r>
            <a:endParaRPr lang="en-US" sz="1560" dirty="0"/>
          </a:p>
        </p:txBody>
      </p:sp>
      <p:sp>
        <p:nvSpPr>
          <p:cNvPr id="19" name="Text 9"/>
          <p:cNvSpPr/>
          <p:nvPr/>
        </p:nvSpPr>
        <p:spPr>
          <a:xfrm>
            <a:off x="5376672" y="5660136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Ensure no unfair recommendations (e.g., not assuming income or lifestyle).</a:t>
            </a:r>
            <a:endParaRPr lang="en-US" sz="1250" dirty="0"/>
          </a:p>
        </p:txBody>
      </p:sp>
      <p:sp>
        <p:nvSpPr>
          <p:cNvPr id="20" name="Text 10"/>
          <p:cNvSpPr/>
          <p:nvPr/>
        </p:nvSpPr>
        <p:spPr>
          <a:xfrm>
            <a:off x="5376672" y="6958584"/>
            <a:ext cx="38953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90% fairness accuracy</a:t>
            </a:r>
            <a:endParaRPr lang="en-US" sz="1250" dirty="0"/>
          </a:p>
        </p:txBody>
      </p:sp>
      <p:sp>
        <p:nvSpPr>
          <p:cNvPr id="21" name="Text 11"/>
          <p:cNvSpPr/>
          <p:nvPr/>
        </p:nvSpPr>
        <p:spPr>
          <a:xfrm>
            <a:off x="9774936" y="5312664"/>
            <a:ext cx="38953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60" dirty="0">
                <a:solidFill>
                  <a:srgbClr val="C2C2C2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Explainability Evaluation</a:t>
            </a:r>
            <a:endParaRPr lang="en-US" sz="1560" dirty="0"/>
          </a:p>
        </p:txBody>
      </p:sp>
      <p:sp>
        <p:nvSpPr>
          <p:cNvPr id="22" name="Text 12"/>
          <p:cNvSpPr/>
          <p:nvPr/>
        </p:nvSpPr>
        <p:spPr>
          <a:xfrm>
            <a:off x="9774936" y="5660136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Check if “AI Transparency Panel” gives clear reasoning.</a:t>
            </a:r>
            <a:endParaRPr lang="en-US" sz="1250" dirty="0"/>
          </a:p>
        </p:txBody>
      </p:sp>
      <p:sp>
        <p:nvSpPr>
          <p:cNvPr id="23" name="Text 13"/>
          <p:cNvSpPr/>
          <p:nvPr/>
        </p:nvSpPr>
        <p:spPr>
          <a:xfrm>
            <a:off x="9774936" y="6958584"/>
            <a:ext cx="38953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Transparent AI explanations rated 4.5/5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9344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1810512"/>
            <a:ext cx="6492240" cy="96926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2871216"/>
            <a:ext cx="6492240" cy="177393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064" y="1810512"/>
            <a:ext cx="6492240" cy="96926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0064" y="2871216"/>
            <a:ext cx="6492240" cy="177393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" y="2468880"/>
            <a:ext cx="6181344" cy="16459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832" y="3520440"/>
            <a:ext cx="6181344" cy="96012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248" y="5047488"/>
            <a:ext cx="13011912" cy="46634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5512" y="2468880"/>
            <a:ext cx="6181344" cy="16459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5512" y="3520440"/>
            <a:ext cx="6181344" cy="96012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384" y="5047488"/>
            <a:ext cx="100584" cy="46634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544" y="1956816"/>
            <a:ext cx="411480" cy="41148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544" y="3008376"/>
            <a:ext cx="411480" cy="41148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07224" y="1956816"/>
            <a:ext cx="411480" cy="41148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07224" y="3008376"/>
            <a:ext cx="411480" cy="411480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5495544"/>
          <a:ext cx="13030200" cy="2084832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User Task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Description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Success Rate (%)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T1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View daily sustainability score on Dashboard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95%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T2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Understand and rate AI recommendations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90%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T3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Access “AI Transparency” modal and read explanation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85%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T4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Provide feedback (like/dislike a tip)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92%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T5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Navigate between Dashboard and Recommendation Feed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88%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 0"/>
          <p:cNvSpPr/>
          <p:nvPr/>
        </p:nvSpPr>
        <p:spPr>
          <a:xfrm>
            <a:off x="795528" y="630936"/>
            <a:ext cx="1304848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User Testing</a:t>
            </a:r>
            <a:endParaRPr lang="en-US" sz="1960" dirty="0"/>
          </a:p>
        </p:txBody>
      </p:sp>
      <p:sp>
        <p:nvSpPr>
          <p:cNvPr id="25" name="Text 1"/>
          <p:cNvSpPr/>
          <p:nvPr/>
        </p:nvSpPr>
        <p:spPr>
          <a:xfrm>
            <a:off x="795528" y="1078992"/>
            <a:ext cx="1304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Objective:</a:t>
            </a:r>
            <a:endParaRPr lang="en-US" sz="980" dirty="0"/>
          </a:p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Validate usability, trust, and engagement of the EcoMind MVP prototype.</a:t>
            </a:r>
            <a:endParaRPr lang="en-US" sz="980" dirty="0"/>
          </a:p>
        </p:txBody>
      </p:sp>
      <p:sp>
        <p:nvSpPr>
          <p:cNvPr id="26" name="Text 2"/>
          <p:cNvSpPr/>
          <p:nvPr/>
        </p:nvSpPr>
        <p:spPr>
          <a:xfrm>
            <a:off x="795528" y="1536192"/>
            <a:ext cx="13048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Testing Plan:</a:t>
            </a:r>
            <a:endParaRPr lang="en-US" sz="980" dirty="0"/>
          </a:p>
        </p:txBody>
      </p:sp>
      <p:sp>
        <p:nvSpPr>
          <p:cNvPr id="22" name="Text 3"/>
          <p:cNvSpPr/>
          <p:nvPr/>
        </p:nvSpPr>
        <p:spPr>
          <a:xfrm>
            <a:off x="1069848" y="2039112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320" dirty="0"/>
          </a:p>
        </p:txBody>
      </p:sp>
      <p:sp>
        <p:nvSpPr>
          <p:cNvPr id="28" name="Text 4"/>
          <p:cNvSpPr/>
          <p:nvPr/>
        </p:nvSpPr>
        <p:spPr>
          <a:xfrm>
            <a:off x="941832" y="2468880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Create Figma mockup (Dashboard + Recommendation Feed).</a:t>
            </a:r>
            <a:endParaRPr lang="en-US" sz="980" dirty="0"/>
          </a:p>
        </p:txBody>
      </p:sp>
      <p:sp>
        <p:nvSpPr>
          <p:cNvPr id="29" name="Text 5"/>
          <p:cNvSpPr/>
          <p:nvPr/>
        </p:nvSpPr>
        <p:spPr>
          <a:xfrm>
            <a:off x="1069848" y="3090672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320" dirty="0"/>
          </a:p>
        </p:txBody>
      </p:sp>
      <p:sp>
        <p:nvSpPr>
          <p:cNvPr id="30" name="Text 6"/>
          <p:cNvSpPr/>
          <p:nvPr/>
        </p:nvSpPr>
        <p:spPr>
          <a:xfrm>
            <a:off x="941832" y="3520440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Ask them to complete tasks like:</a:t>
            </a:r>
            <a:endParaRPr lang="en-US" sz="980" dirty="0"/>
          </a:p>
        </p:txBody>
      </p:sp>
      <p:sp>
        <p:nvSpPr>
          <p:cNvPr id="31" name="Text 7"/>
          <p:cNvSpPr/>
          <p:nvPr/>
        </p:nvSpPr>
        <p:spPr>
          <a:xfrm>
            <a:off x="941832" y="3794760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“View your eco score.”</a:t>
            </a:r>
            <a:endParaRPr lang="en-US" sz="980" dirty="0"/>
          </a:p>
        </p:txBody>
      </p:sp>
      <p:sp>
        <p:nvSpPr>
          <p:cNvPr id="32" name="Text 8"/>
          <p:cNvSpPr/>
          <p:nvPr/>
        </p:nvSpPr>
        <p:spPr>
          <a:xfrm>
            <a:off x="941832" y="4059936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“Accept or reject a recommendation.”</a:t>
            </a:r>
            <a:endParaRPr lang="en-US" sz="980" dirty="0"/>
          </a:p>
        </p:txBody>
      </p:sp>
      <p:sp>
        <p:nvSpPr>
          <p:cNvPr id="33" name="Text 9"/>
          <p:cNvSpPr/>
          <p:nvPr/>
        </p:nvSpPr>
        <p:spPr>
          <a:xfrm>
            <a:off x="941832" y="4325112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“View explanation for recommendation.”</a:t>
            </a:r>
            <a:endParaRPr lang="en-US" sz="980" dirty="0"/>
          </a:p>
        </p:txBody>
      </p:sp>
      <p:sp>
        <p:nvSpPr>
          <p:cNvPr id="34" name="Text 10"/>
          <p:cNvSpPr/>
          <p:nvPr/>
        </p:nvSpPr>
        <p:spPr>
          <a:xfrm>
            <a:off x="795528" y="4764024"/>
            <a:ext cx="13048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Visualization of Results</a:t>
            </a:r>
            <a:endParaRPr lang="en-US" sz="980" dirty="0"/>
          </a:p>
        </p:txBody>
      </p:sp>
      <p:sp>
        <p:nvSpPr>
          <p:cNvPr id="35" name="Text 11"/>
          <p:cNvSpPr/>
          <p:nvPr/>
        </p:nvSpPr>
        <p:spPr>
          <a:xfrm>
            <a:off x="987552" y="5202936"/>
            <a:ext cx="127193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Task Completion Percentage</a:t>
            </a:r>
            <a:endParaRPr lang="en-US" sz="980" dirty="0"/>
          </a:p>
        </p:txBody>
      </p:sp>
      <p:sp>
        <p:nvSpPr>
          <p:cNvPr id="37" name="Text 13"/>
          <p:cNvSpPr/>
          <p:nvPr/>
        </p:nvSpPr>
        <p:spPr>
          <a:xfrm>
            <a:off x="7525512" y="2468880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Recruit 5–8 users from target audience (via Google Forms).</a:t>
            </a:r>
            <a:endParaRPr lang="en-US" sz="980" dirty="0"/>
          </a:p>
        </p:txBody>
      </p:sp>
      <p:sp>
        <p:nvSpPr>
          <p:cNvPr id="38" name="Text 14"/>
          <p:cNvSpPr/>
          <p:nvPr/>
        </p:nvSpPr>
        <p:spPr>
          <a:xfrm>
            <a:off x="7662672" y="2039112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320" dirty="0"/>
          </a:p>
        </p:txBody>
      </p:sp>
      <p:sp>
        <p:nvSpPr>
          <p:cNvPr id="23" name="Text 16"/>
          <p:cNvSpPr/>
          <p:nvPr/>
        </p:nvSpPr>
        <p:spPr>
          <a:xfrm>
            <a:off x="7662672" y="3090672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1320" dirty="0"/>
          </a:p>
        </p:txBody>
      </p:sp>
      <p:sp>
        <p:nvSpPr>
          <p:cNvPr id="41" name="Text 17"/>
          <p:cNvSpPr/>
          <p:nvPr/>
        </p:nvSpPr>
        <p:spPr>
          <a:xfrm>
            <a:off x="7525512" y="3520440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Record task success rate, satisfaction, and confusion points.</a:t>
            </a:r>
            <a:endParaRPr lang="en-US" sz="98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AC442FE0-412E-063E-6B8E-DFFDCB54FD14}"/>
              </a:ext>
            </a:extLst>
          </p:cNvPr>
          <p:cNvSpPr/>
          <p:nvPr/>
        </p:nvSpPr>
        <p:spPr>
          <a:xfrm>
            <a:off x="795528" y="7827264"/>
            <a:ext cx="13048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Average Task Completion Rate: 90%</a:t>
            </a:r>
            <a:endParaRPr lang="en-US" sz="9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91B3F-3E80-8363-7E3F-2D17ED6C4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CE8022A-3821-2819-D225-901B88A68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6487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80C4C6DD-D772-34C8-5015-44BCE42CF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2468880"/>
            <a:ext cx="6181344" cy="164592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679A0405-3ABE-2CDD-1CEF-D79670B8F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2468880"/>
            <a:ext cx="6181344" cy="164592"/>
          </a:xfrm>
          <a:prstGeom prst="rect">
            <a:avLst/>
          </a:prstGeom>
        </p:spPr>
      </p:pic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26197D2E-A5E8-A209-2CF2-1D9A5553F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42002"/>
            <a:ext cx="13011912" cy="466344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32AD2021-C1CE-11CA-8FA7-E8674CFB24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389120"/>
            <a:ext cx="13011912" cy="466344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002DC9BE-A843-9F2F-8EFC-C5A0829432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3526502"/>
            <a:ext cx="100584" cy="466344"/>
          </a:xfrm>
          <a:prstGeom prst="rect">
            <a:avLst/>
          </a:prstGeom>
        </p:spPr>
      </p:pic>
      <p:graphicFrame>
        <p:nvGraphicFramePr>
          <p:cNvPr id="27" name="Table 1">
            <a:extLst>
              <a:ext uri="{FF2B5EF4-FFF2-40B4-BE49-F238E27FC236}">
                <a16:creationId xmlns:a16="http://schemas.microsoft.com/office/drawing/2014/main" id="{3F6FDE79-7BC1-18B1-9CAE-48C3FA9FA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994895"/>
              </p:ext>
            </p:extLst>
          </p:nvPr>
        </p:nvGraphicFramePr>
        <p:xfrm>
          <a:off x="795528" y="990058"/>
          <a:ext cx="13030200" cy="2084832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Parameter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Description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Average Rating (out of 5)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Visual Design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Look &amp; feel of interface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4.6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Ease of Navigation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Simplicity &amp; intuitiveness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4.4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Trust in AI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Confidence in recommendations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4.2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Transparency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Clarity of AI explanations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4.3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Overall Experience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Holistic satisfaction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4.5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0" name="Table 2">
            <a:extLst>
              <a:ext uri="{FF2B5EF4-FFF2-40B4-BE49-F238E27FC236}">
                <a16:creationId xmlns:a16="http://schemas.microsoft.com/office/drawing/2014/main" id="{7469B699-5AB6-BAE0-0FD3-1EF32628B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178281"/>
              </p:ext>
            </p:extLst>
          </p:nvPr>
        </p:nvGraphicFramePr>
        <p:xfrm>
          <a:off x="795528" y="3980146"/>
          <a:ext cx="13030200" cy="2084832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Issue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% of Users Reporting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Notes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“AI Transparency” text too technical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35%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Simplify language, add examples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Buttons too small on mobile view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25%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Improve responsive design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Wanted more visual impact tracking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20%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Add CO₂ saved animation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Confusion on data privacy info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10%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Include brief tooltip or popup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No major issues reported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0%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General positive experience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 0">
            <a:extLst>
              <a:ext uri="{FF2B5EF4-FFF2-40B4-BE49-F238E27FC236}">
                <a16:creationId xmlns:a16="http://schemas.microsoft.com/office/drawing/2014/main" id="{B5E206A1-77B1-AA33-F389-17392EDBD9BC}"/>
              </a:ext>
            </a:extLst>
          </p:cNvPr>
          <p:cNvSpPr/>
          <p:nvPr/>
        </p:nvSpPr>
        <p:spPr>
          <a:xfrm>
            <a:off x="786384" y="149352"/>
            <a:ext cx="1304848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450"/>
              </a:lnSpc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Visualization of Results</a:t>
            </a:r>
            <a:endParaRPr lang="en-US" sz="196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93E9508E-B91F-9E13-64EF-3024ED5864F8}"/>
              </a:ext>
            </a:extLst>
          </p:cNvPr>
          <p:cNvSpPr/>
          <p:nvPr/>
        </p:nvSpPr>
        <p:spPr>
          <a:xfrm>
            <a:off x="1069848" y="3090672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320" dirty="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70D0C0B7-A95E-7148-2F00-C9E79B09F0EB}"/>
              </a:ext>
            </a:extLst>
          </p:cNvPr>
          <p:cNvSpPr/>
          <p:nvPr/>
        </p:nvSpPr>
        <p:spPr>
          <a:xfrm>
            <a:off x="7662672" y="2039112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32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3937B37A-1B63-EE3F-025A-4884BCF76591}"/>
              </a:ext>
            </a:extLst>
          </p:cNvPr>
          <p:cNvSpPr/>
          <p:nvPr/>
        </p:nvSpPr>
        <p:spPr>
          <a:xfrm>
            <a:off x="987552" y="697450"/>
            <a:ext cx="127193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Average Satisfaction Rating (User Feedback)</a:t>
            </a:r>
            <a:endParaRPr lang="en-US" sz="98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0A9901B3-B7FA-459D-99CF-EB338807E784}"/>
              </a:ext>
            </a:extLst>
          </p:cNvPr>
          <p:cNvSpPr/>
          <p:nvPr/>
        </p:nvSpPr>
        <p:spPr>
          <a:xfrm>
            <a:off x="7662672" y="3090672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132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E2459404-18BD-AB24-D5E9-3F4C6AFE1810}"/>
              </a:ext>
            </a:extLst>
          </p:cNvPr>
          <p:cNvSpPr/>
          <p:nvPr/>
        </p:nvSpPr>
        <p:spPr>
          <a:xfrm>
            <a:off x="795528" y="3248626"/>
            <a:ext cx="13048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Overall Average Satisfaction: 4.4 / 5</a:t>
            </a:r>
            <a:endParaRPr lang="en-US" sz="98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A1AF6181-023D-BA01-B261-F96AE79D9A26}"/>
              </a:ext>
            </a:extLst>
          </p:cNvPr>
          <p:cNvSpPr/>
          <p:nvPr/>
        </p:nvSpPr>
        <p:spPr>
          <a:xfrm>
            <a:off x="987552" y="3687538"/>
            <a:ext cx="127193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Common Usability Issues (Frequency Analysis)</a:t>
            </a:r>
            <a:endParaRPr lang="en-US" sz="980" dirty="0"/>
          </a:p>
        </p:txBody>
      </p:sp>
      <p:pic>
        <p:nvPicPr>
          <p:cNvPr id="44" name="Image 13" descr="preencoded.png">
            <a:extLst>
              <a:ext uri="{FF2B5EF4-FFF2-40B4-BE49-F238E27FC236}">
                <a16:creationId xmlns:a16="http://schemas.microsoft.com/office/drawing/2014/main" id="{B8E19FD4-95DE-5B2F-6137-C74B342019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529302"/>
            <a:ext cx="100584" cy="46634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575F34F-66E0-AC26-B047-9C50618987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48" y="6204830"/>
            <a:ext cx="12455652" cy="2031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0974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2075688"/>
            <a:ext cx="4251960" cy="93268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639312"/>
            <a:ext cx="4251960" cy="9326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2075688"/>
            <a:ext cx="4251960" cy="9326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3639312"/>
            <a:ext cx="4251960" cy="93268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344" y="2075688"/>
            <a:ext cx="4251960" cy="93268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344" y="3639312"/>
            <a:ext cx="4251960" cy="932688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5230368"/>
          <a:ext cx="13030200" cy="2121408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Phase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Focus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Duration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Sprint 1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Collect feedback &amp; refine recommender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1 week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Sprint 2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Improve explainability UX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1 week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Sprint 3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Re-test &amp; finalize MVP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1 week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0"/>
          <p:cNvSpPr/>
          <p:nvPr/>
        </p:nvSpPr>
        <p:spPr>
          <a:xfrm>
            <a:off x="795528" y="932688"/>
            <a:ext cx="13048488" cy="484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790"/>
              </a:lnSpc>
              <a:buNone/>
            </a:pPr>
            <a:r>
              <a:rPr lang="en-US" sz="303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Iteration Plan</a:t>
            </a:r>
            <a:endParaRPr lang="en-US" sz="3030" dirty="0"/>
          </a:p>
        </p:txBody>
      </p:sp>
      <p:sp>
        <p:nvSpPr>
          <p:cNvPr id="11" name="Text 1"/>
          <p:cNvSpPr/>
          <p:nvPr/>
        </p:nvSpPr>
        <p:spPr>
          <a:xfrm>
            <a:off x="795528" y="1627632"/>
            <a:ext cx="1304848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Feedback Loops:</a:t>
            </a:r>
            <a:endParaRPr lang="en-US" sz="1510" dirty="0"/>
          </a:p>
        </p:txBody>
      </p:sp>
      <p:sp>
        <p:nvSpPr>
          <p:cNvPr id="12" name="Text 2"/>
          <p:cNvSpPr/>
          <p:nvPr/>
        </p:nvSpPr>
        <p:spPr>
          <a:xfrm>
            <a:off x="1005840" y="2295144"/>
            <a:ext cx="3813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User Feedback → AI Model retraining (improve personalization)</a:t>
            </a:r>
            <a:endParaRPr lang="en-US" sz="1510" dirty="0"/>
          </a:p>
        </p:txBody>
      </p:sp>
      <p:sp>
        <p:nvSpPr>
          <p:cNvPr id="13" name="Text 3"/>
          <p:cNvSpPr/>
          <p:nvPr/>
        </p:nvSpPr>
        <p:spPr>
          <a:xfrm>
            <a:off x="795528" y="3200400"/>
            <a:ext cx="1304848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User Testing Results (8 participants):</a:t>
            </a:r>
            <a:endParaRPr lang="en-US" sz="1510" dirty="0"/>
          </a:p>
        </p:txBody>
      </p:sp>
      <p:sp>
        <p:nvSpPr>
          <p:cNvPr id="14" name="Text 4"/>
          <p:cNvSpPr/>
          <p:nvPr/>
        </p:nvSpPr>
        <p:spPr>
          <a:xfrm>
            <a:off x="1005840" y="3867912"/>
            <a:ext cx="381304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90% understood recommendations</a:t>
            </a:r>
            <a:endParaRPr lang="en-US" sz="1510" dirty="0"/>
          </a:p>
        </p:txBody>
      </p:sp>
      <p:sp>
        <p:nvSpPr>
          <p:cNvPr id="9" name="Text 5"/>
          <p:cNvSpPr/>
          <p:nvPr/>
        </p:nvSpPr>
        <p:spPr>
          <a:xfrm>
            <a:off x="795528" y="4773168"/>
            <a:ext cx="1304848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Iteration Cycle (Agile Style):</a:t>
            </a:r>
            <a:endParaRPr lang="en-US" sz="1510" dirty="0"/>
          </a:p>
        </p:txBody>
      </p:sp>
      <p:sp>
        <p:nvSpPr>
          <p:cNvPr id="16" name="Text 6"/>
          <p:cNvSpPr/>
          <p:nvPr/>
        </p:nvSpPr>
        <p:spPr>
          <a:xfrm>
            <a:off x="5413248" y="2295144"/>
            <a:ext cx="3813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Ethical Review → Adjust explainability text &amp; data use policies</a:t>
            </a:r>
            <a:endParaRPr lang="en-US" sz="1510" dirty="0"/>
          </a:p>
        </p:txBody>
      </p:sp>
      <p:sp>
        <p:nvSpPr>
          <p:cNvPr id="17" name="Text 7"/>
          <p:cNvSpPr/>
          <p:nvPr/>
        </p:nvSpPr>
        <p:spPr>
          <a:xfrm>
            <a:off x="5413248" y="3867912"/>
            <a:ext cx="381304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80% trusted AI suggestions</a:t>
            </a:r>
            <a:endParaRPr lang="en-US" sz="1510" dirty="0"/>
          </a:p>
        </p:txBody>
      </p:sp>
      <p:sp>
        <p:nvSpPr>
          <p:cNvPr id="18" name="Text 8"/>
          <p:cNvSpPr/>
          <p:nvPr/>
        </p:nvSpPr>
        <p:spPr>
          <a:xfrm>
            <a:off x="9829800" y="2295144"/>
            <a:ext cx="3813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Analytics → Identify underperforming features or confusing UX</a:t>
            </a:r>
            <a:endParaRPr lang="en-US" sz="1510" dirty="0"/>
          </a:p>
        </p:txBody>
      </p:sp>
      <p:sp>
        <p:nvSpPr>
          <p:cNvPr id="19" name="Text 9"/>
          <p:cNvSpPr/>
          <p:nvPr/>
        </p:nvSpPr>
        <p:spPr>
          <a:xfrm>
            <a:off x="9829800" y="3867912"/>
            <a:ext cx="3813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Top feedback: “Make impact tracker more visual!”</a:t>
            </a:r>
            <a:endParaRPr lang="en-US" sz="15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3502152"/>
            <a:ext cx="13048488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Thank You</a:t>
            </a:r>
            <a:endParaRPr lang="en-US" sz="6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1421</Words>
  <Application>Microsoft Office PowerPoint</Application>
  <PresentationFormat>Custom</PresentationFormat>
  <Paragraphs>334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思源黑体-思源黑体-Medium</vt:lpstr>
      <vt:lpstr>思源黑体-思源黑体-SemiBold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Sujit Bhuyan</cp:lastModifiedBy>
  <cp:revision>13</cp:revision>
  <dcterms:created xsi:type="dcterms:W3CDTF">2025-10-31T18:08:55Z</dcterms:created>
  <dcterms:modified xsi:type="dcterms:W3CDTF">2025-11-02T14:51:52Z</dcterms:modified>
</cp:coreProperties>
</file>